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</ns0:sldIdLst>
  <ns0:sldSz cx="12192000" cy="6858000" type="screen4x3"/>
  <ns0:notesSz cx="6858000" cy="9144000"/>
  <ns0:embeddedFontLst>
    <ns0:embeddedFont>
      <ns0:font typeface="Plus Jakarta Sans"/>
      <ns0:bold ns1:id="rIdFont9"/>
      <ns0:regular ns1:id="rIdFont1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Font9" Type="http://schemas.openxmlformats.org/officeDocument/2006/relationships/font" Target="fonts/0d3520ed-3d89-486d-b612-f63b5bae83eb.fntdata" /><ns0:Relationship Id="rIdFont10" Type="http://schemas.openxmlformats.org/officeDocument/2006/relationships/font" Target="fonts/d2a7fa05-2137-4014-8ef7-58e13e69466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111448"/>
            <a:ext cx="11277600" cy="56316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203501"/>
            <a:ext cx="11277600" cy="895350"/>
          </a:xfrm>
          <a:prstGeom prst="roundRect">
            <a:avLst>
              <a:gd name="adj" fmla="val 106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5275064"/>
            <a:ext cx="11277600" cy="892224"/>
          </a:xfrm>
          <a:prstGeom prst="roundRect">
            <a:avLst>
              <a:gd name="adj" fmla="val 854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343501"/>
            <a:ext cx="112776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91675" y="304800"/>
            <a:ext cx="2143125" cy="285750"/>
          </a:xfrm>
          <a:prstGeom prst="roundRect">
            <a:avLst>
              <a:gd name="adj" fmla="val 20000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11448"/>
            <a:ext cx="38100" cy="56316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50826"/>
            <a:ext cx="5543550" cy="2176462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1250" y="1850826"/>
            <a:ext cx="5543550" cy="2176462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40473" y="5370314"/>
            <a:ext cx="9525" cy="70172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14221" y="5450681"/>
            <a:ext cx="9525" cy="54084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6343501"/>
            <a:ext cx="112776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8175" y="4589264"/>
            <a:ext cx="1076325" cy="333375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21806" y="4527351"/>
            <a:ext cx="1123950" cy="45720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53062" y="4527351"/>
            <a:ext cx="1219200" cy="45720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79568" y="4527351"/>
            <a:ext cx="1038225" cy="4572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57159" y="4641651"/>
            <a:ext cx="9525" cy="2286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06050" y="4527351"/>
            <a:ext cx="1247775" cy="457200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8175" y="2500312"/>
            <a:ext cx="54024" cy="5715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8175" y="2922984"/>
            <a:ext cx="50452" cy="5715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8175" y="3345656"/>
            <a:ext cx="57150" cy="5715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8175" y="3595092"/>
            <a:ext cx="51941" cy="5715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72225" y="2327076"/>
            <a:ext cx="48071" cy="571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72225" y="2749748"/>
            <a:ext cx="51494" cy="571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172420"/>
            <a:ext cx="52238" cy="571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72225" y="3595092"/>
            <a:ext cx="50899" cy="571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307306"/>
            <a:ext cx="171450" cy="1714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371475"/>
            <a:ext cx="19050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5765" y="4698801"/>
            <a:ext cx="104775" cy="1143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021" y="4698801"/>
            <a:ext cx="104775" cy="1143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3528" y="4698801"/>
            <a:ext cx="104775" cy="1143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" y="2017514"/>
            <a:ext cx="190500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2225" y="2017514"/>
            <a:ext cx="190500" cy="152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52500" y="1206698"/>
            <a:ext cx="1070610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87" i="0" u="none">
                <a:solidFill>
                  <a:srgbClr val="334155"/>
                </a:solidFill>
                <a:latin typeface="Plus Jakarta Sans"/>
              </a:rPr>
              <a:t>Understanding of the Problem:</a:t>
            </a:r>
            <a:r>
              <a:rPr b="0" sz="1087" i="0" u="none">
                <a:solidFill>
                  <a:srgbClr val="334155"/>
                </a:solidFill>
                <a:latin typeface="Plus Jakarta Sans"/>
              </a:rPr>
              <a:t> Manual coordination across chats and spreadsheets causes overlapping bookings, unvetted capacity violations, opaque approval queues, and venue slots remaining locked after cancellations or during unannounced renovations.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650" y="5370314"/>
            <a:ext cx="4083248" cy="7017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2DD4BF"/>
                </a:solidFill>
                <a:latin typeface="Plus Jakarta Sans"/>
              </a:rPr>
              <a:t>Scope Selected for 90 Minutes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02398" y="5450681"/>
            <a:ext cx="4083248" cy="540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2DD4BF"/>
                </a:solidFill>
                <a:latin typeface="Plus Jakarta Sans"/>
              </a:rPr>
              <a:t>Key Assumptions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6146" y="5370314"/>
            <a:ext cx="2482304" cy="7017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94A3B8"/>
                </a:solidFill>
                <a:latin typeface="Plus Jakarta Sans"/>
              </a:rPr>
              <a:t>Explicit Exclusions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10176"/>
            <a:ext cx="305990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Team 6 | Campus Event Management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10750" y="6410176"/>
            <a:ext cx="23812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Slide 1 of 2 · Problem Understanding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04800"/>
            <a:ext cx="9072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D9488"/>
                </a:solidFill>
                <a:latin typeface="Plus Jakarta Sans"/>
              </a:rPr>
              <a:t>TEAM 6 · IIIT HACKATHON CHALLENGE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95300"/>
            <a:ext cx="9526190" cy="3065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Slide 1: Problem Understanding &amp; Operational Invariants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01250" y="371475"/>
            <a:ext cx="19883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766E"/>
                </a:solidFill>
                <a:latin typeface="Plus Jakarta Sans"/>
              </a:rPr>
              <a:t>90-Minute Delivery Scope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175" y="4317801"/>
            <a:ext cx="526851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WORKFLOWS PRIORITIZED: END-TO-END STATE MACHINE LIFECYCLE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58175" y="4317801"/>
            <a:ext cx="39338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Active bookings reserve slots · Released states free the venue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4646414"/>
            <a:ext cx="11334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Plus Jakarta Sans"/>
              </a:rPr>
              <a:t>Form Validate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2281" y="4584501"/>
            <a:ext cx="114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B45309"/>
                </a:solidFill>
                <a:latin typeface="Plus Jakarta Sans"/>
              </a:rPr>
              <a:t>PENDING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34012" y="4584501"/>
            <a:ext cx="12573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5803D"/>
                </a:solidFill>
                <a:latin typeface="Plus Jakarta Sans"/>
              </a:rPr>
              <a:t>CONFIRMED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70043" y="4584501"/>
            <a:ext cx="10572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475569"/>
                </a:solidFill>
                <a:latin typeface="Plus Jakarta Sans"/>
              </a:rPr>
              <a:t>CANCELLED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83428" y="4584501"/>
            <a:ext cx="129301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B91C1C"/>
                </a:solidFill>
                <a:latin typeface="Plus Jakarta Sans"/>
              </a:rPr>
              <a:t>REJECTED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8650" y="5589389"/>
            <a:ext cx="4073723" cy="482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b="0" sz="975" i="0" u="none">
                <a:solidFill>
                  <a:srgbClr val="E2E8F0"/>
                </a:solidFill>
                <a:latin typeface="Plus Jakarta Sans"/>
              </a:rPr>
              <a:t>Request submission, reviewer approval queue, requester cancellation, facilities maintenance blocks, and public schedule view.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02398" y="5669756"/>
            <a:ext cx="4073723" cy="321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b="0" sz="975" i="0" u="none">
                <a:solidFill>
                  <a:srgbClr val="E2E8F0"/>
                </a:solidFill>
                <a:latin typeface="Plus Jakarta Sans"/>
              </a:rPr>
              <a:t>Back-to-back bookings allowed; max 12h duration; August 2026 seed dates active; role switcher simulates authenticated login.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76146" y="5589389"/>
            <a:ext cx="2482304" cy="482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No partial/split bookings, auto-rerouting, or external cloud dependencies.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4875" y="1993701"/>
            <a:ext cx="343792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Stakeholders &amp; Personas Identified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38925" y="1993701"/>
            <a:ext cx="363795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Important Business Rules Discovered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21806" y="4794051"/>
            <a:ext cx="112395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92400E"/>
                </a:solidFill>
                <a:latin typeface="Plus Jakarta Sans"/>
              </a:rPr>
              <a:t>Locks venue slot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53062" y="4794051"/>
            <a:ext cx="12192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166534"/>
                </a:solidFill>
                <a:latin typeface="Plus Jakarta Sans"/>
              </a:rPr>
              <a:t>Approved booking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79568" y="4794051"/>
            <a:ext cx="1038225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Slot released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06050" y="4794051"/>
            <a:ext cx="1247775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91B1B"/>
                </a:solidFill>
                <a:latin typeface="Plus Jakarta Sans"/>
              </a:rPr>
              <a:t>Closed with reason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399" y="2443162"/>
            <a:ext cx="51466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Requester (Clubs &amp; Faculty):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Discover venues, submit requests, track approval status.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4827" y="2865834"/>
            <a:ext cx="5150197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Event Reviewer (Events Office):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Inspect overlaps, approve or reject with mandatory reason.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1525" y="3288506"/>
            <a:ext cx="6226968" cy="173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Facilities Manager: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Place operational maintenance/renovation locks on venues.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6316" y="3537942"/>
            <a:ext cx="5148708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Campus Community: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View real-time, transparent public schedule of all confirmed events.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6496" y="2269926"/>
            <a:ext cx="5152578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Zero Overlap Invariant: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Both PENDING and CONFIRMED lock slots; overlaps blocked pre-submit.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99919" y="2692598"/>
            <a:ext cx="514915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Pre-Condition Gates: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Enforces 0 &lt; attendees ≤ capacity, start &lt; end, and max 12h duration.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00663" y="3115270"/>
            <a:ext cx="5148411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Instant Slot Release: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Rejection/cancellation immediately frees the slot for new requests.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99324" y="3537942"/>
            <a:ext cx="51497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Rejection Immutability: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Rejected requests stay closed; revisions require a new submission.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408360"/>
            <a:ext cx="11277600" cy="438150"/>
          </a:xfrm>
          <a:prstGeom prst="roundRect">
            <a:avLst>
              <a:gd name="adj" fmla="val 1739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2800"/>
            <a:ext cx="11277600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43650"/>
            <a:ext cx="112776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82050" y="304800"/>
            <a:ext cx="2952750" cy="285750"/>
          </a:xfrm>
          <a:prstGeom prst="roundRect">
            <a:avLst>
              <a:gd name="adj" fmla="val 20000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319635"/>
            <a:ext cx="5543550" cy="2230040"/>
          </a:xfrm>
          <a:prstGeom prst="roundRect">
            <a:avLst>
              <a:gd name="adj" fmla="val 42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2319635"/>
            <a:ext cx="5543550" cy="2230040"/>
          </a:xfrm>
          <a:prstGeom prst="roundRect">
            <a:avLst>
              <a:gd name="adj" fmla="val 42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6119" y="5176242"/>
            <a:ext cx="9525" cy="540841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62404" y="5176242"/>
            <a:ext cx="9525" cy="540841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4329" y="5127575"/>
            <a:ext cx="2629644" cy="638175"/>
          </a:xfrm>
          <a:prstGeom prst="roundRect">
            <a:avLst>
              <a:gd name="adj" fmla="val 8955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343650"/>
            <a:ext cx="112776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24400" y="1503610"/>
            <a:ext cx="1295400" cy="247650"/>
          </a:xfrm>
          <a:prstGeom prst="roundRect">
            <a:avLst>
              <a:gd name="adj" fmla="val 2307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075" y="1503610"/>
            <a:ext cx="1971675" cy="247650"/>
          </a:xfrm>
          <a:prstGeom prst="roundRect">
            <a:avLst>
              <a:gd name="adj" fmla="val 2307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82025" y="1503610"/>
            <a:ext cx="1276350" cy="247650"/>
          </a:xfrm>
          <a:prstGeom prst="roundRect">
            <a:avLst>
              <a:gd name="adj" fmla="val 2307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153650" y="1513135"/>
            <a:ext cx="1390650" cy="2286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8175" y="2795885"/>
            <a:ext cx="41969" cy="5715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8175" y="3231951"/>
            <a:ext cx="38992" cy="5715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8175" y="3668017"/>
            <a:ext cx="38546" cy="5715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8175" y="4104084"/>
            <a:ext cx="45094" cy="5715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72225" y="2795885"/>
            <a:ext cx="37653" cy="571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72225" y="3231951"/>
            <a:ext cx="36165" cy="571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72225" y="3668017"/>
            <a:ext cx="36611" cy="571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72225" y="4104084"/>
            <a:ext cx="49708" cy="571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925" y="371475"/>
            <a:ext cx="1905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551235"/>
            <a:ext cx="17145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050" y="1570285"/>
            <a:ext cx="104775" cy="1143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1570285"/>
            <a:ext cx="104775" cy="1143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3625" y="1570285"/>
            <a:ext cx="104775" cy="1143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" y="2486322"/>
            <a:ext cx="152400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225" y="2486322"/>
            <a:ext cx="114300" cy="152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8175" y="5176242"/>
            <a:ext cx="3769369" cy="540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Known Limitations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8044" y="5176242"/>
            <a:ext cx="4135784" cy="540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D9488"/>
                </a:solidFill>
                <a:latin typeface="Plus Jakarta Sans"/>
              </a:rPr>
              <a:t>What the Team Would Improve Next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38629" y="5184725"/>
            <a:ext cx="2496294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F766E"/>
                </a:solidFill>
                <a:latin typeface="Plus Jakarta Sans"/>
              </a:rPr>
              <a:t>Bonus Capability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10325"/>
            <a:ext cx="37385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766E"/>
                </a:solidFill>
                <a:latin typeface="Plus Jakarta Sans"/>
              </a:rPr>
              <a:t>Team 6 | github.com/H9660/Ms_hackathon_group_6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6875" y="6410325"/>
            <a:ext cx="2905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Slide 2 of 2 · Solution &amp; Engineering Decisions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04800"/>
            <a:ext cx="8727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D9488"/>
                </a:solidFill>
                <a:latin typeface="Plus Jakarta Sans"/>
              </a:rPr>
              <a:t>TEAM 6 · IIIT HACKATHON CHALLENGE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95300"/>
            <a:ext cx="9163645" cy="3065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Slide 2: Solution Architecture &amp; Engineering Decisions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91625" y="371475"/>
            <a:ext cx="3000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766E"/>
                </a:solidFill>
                <a:latin typeface="Plus Jakarta Sans"/>
              </a:rPr>
              <a:t>7 Iterative Commits · 100% Pytest Green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5350" y="1555998"/>
            <a:ext cx="19526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Plus Jakarta Sans"/>
              </a:rPr>
              <a:t>HIGH-LEVEL APPROACH: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38700" y="1541710"/>
            <a:ext cx="1162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8FAFC"/>
                </a:solidFill>
                <a:latin typeface="Plus Jakarta Sans"/>
              </a:rPr>
              <a:t>Streamlit UI Layer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9375" y="1541710"/>
            <a:ext cx="18383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8FAFC"/>
                </a:solidFill>
                <a:latin typeface="Plus Jakarta Sans"/>
              </a:rPr>
              <a:t>Service Layer + Shared Rules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96325" y="154171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8FAFC"/>
                </a:solidFill>
                <a:latin typeface="Plus Jakarta Sans"/>
              </a:rPr>
              <a:t>Repository 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67950" y="1551235"/>
            <a:ext cx="1257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Plus Jakarta Sans"/>
              </a:rPr>
              <a:t>SQLite (`cems.db`)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175" y="5395317"/>
            <a:ext cx="3759844" cy="321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Local execution; simulated user roles; single-time slot (no recurring events); immutable rejections (requires new request).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98044" y="5395317"/>
            <a:ext cx="4126259" cy="321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SSO/RBAC authentication, concurrent stress validation, `.ics` calendar sync, and venue utilization analytics.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48154" y="5413325"/>
            <a:ext cx="247724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15E59"/>
                </a:solidFill>
                <a:latin typeface="Plus Jakarta Sans"/>
              </a:rPr>
              <a:t>In-app notification center for real-time status alerts.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775" y="2462510"/>
            <a:ext cx="338792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Design Decisions &amp; Key Trade-offs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62725" y="2462510"/>
            <a:ext cx="29503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Testing &amp; Validation Approach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6344" y="2738735"/>
            <a:ext cx="5158680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Streamlit + SQLite: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Rapid 90-min delivery, zero network latency; trade-off is single-process local deployment.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3367" y="3174801"/>
            <a:ext cx="5161657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Dual Validation: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Live client-side checks for user feedback plus transactional service verification for zero race conditions.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2921" y="3610867"/>
            <a:ext cx="5162103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Derived Availability: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Slots derived dynamically from active states (PENDING/CONFIRMED); eliminates out-of-sync flags.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9469" y="4046934"/>
            <a:ext cx="5155555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Role Switcher vs Auth: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Prioritized core booking logic and rule enforcement over boilerplate credentials.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86078" y="2738735"/>
            <a:ext cx="5162996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Automated Pytest Suite: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100% test pass on boundary overlaps, back-to-back limits, capacity caps, and maintenance locks.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84590" y="3174801"/>
            <a:ext cx="5164484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E2E Lifecycle Verification: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Programmatic and manual tests confirm Submit → Approve → Cancel cleanly frees slot for rebooking.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85036" y="3610867"/>
            <a:ext cx="5164038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Live Edge Demonstrations: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Verified live prevention on Seminar Hall A overlap, Conference Room C renovation, and lab capacity.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8133" y="4046934"/>
            <a:ext cx="5150941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Audit Log Traceability: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Every state transition records actor, timestamp, and rejection reasons.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